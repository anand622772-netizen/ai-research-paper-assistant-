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2E8F0"/>
                </a:solidFill>
                <a:latin typeface="Calibri"/>
              </a:rPr>
              <a:t>PARUL UNIVERSITY</a:t>
            </a:r>
          </a:p>
          <a:p>
            <a:pPr algn="ctr"/>
            <a:r>
              <a:rPr sz="1300" b="1">
                <a:solidFill>
                  <a:srgbClr val="93C5FD"/>
                </a:solidFill>
                <a:latin typeface="Calibri"/>
              </a:rPr>
              <a:t>FACULTY OF IT &amp; COMPUTER SCIENCE  •  DEPARTMENT OF MScIT</a:t>
            </a:r>
          </a:p>
          <a:p>
            <a:pPr algn="ctr"/>
            <a:r>
              <a:rPr sz="1000">
                <a:solidFill>
                  <a:srgbClr val="94A3B8"/>
                </a:solidFill>
                <a:latin typeface="Calibri"/>
              </a:rPr>
              <a:t>P.O. Limda, Ta. Waghodia, Dist. Vadodara - 391760, Gujarat,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97135" cy="2468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3172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A MINOR PROJECT DEFENSE &amp; TECHNICAL PRESENTATION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AI RESEARCH PAPER ASSISTANT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BAE6FD"/>
                </a:solidFill>
                <a:latin typeface="Calibri"/>
              </a:rPr>
              <a:t>An End-to-End Academic Authoring, Literature Synthesis &amp; Overleaf Compilation Platform</a:t>
            </a:r>
          </a:p>
          <a:p>
            <a:pPr algn="ctr">
              <a:spcBef>
                <a:spcPts val="800"/>
              </a:spcBef>
            </a:pPr>
            <a:r>
              <a:rPr sz="1100" i="1">
                <a:solidFill>
                  <a:srgbClr val="94A3B8"/>
                </a:solidFill>
                <a:latin typeface="Calibri"/>
              </a:rPr>
              <a:t>Submitted in partial fulfillment of the requirements for Master of Science in Information Technology (M.Sc. 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00600"/>
            <a:ext cx="4846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89204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943634"/>
                </a:solidFill>
              </a:rPr>
              <a:t>SUBMITTED BY:</a:t>
            </a:r>
          </a:p>
          <a:p>
            <a:r>
              <a:rPr b="1" sz="1300">
                <a:solidFill>
                  <a:srgbClr val="FFFFFF"/>
                </a:solidFill>
              </a:rPr>
              <a:t>Candidate Name</a:t>
            </a:r>
          </a:p>
          <a:p>
            <a:r>
              <a:rPr sz="1000">
                <a:solidFill>
                  <a:srgbClr val="94A3B8"/>
                </a:solidFill>
              </a:rPr>
              <a:t>Enrollment No.: 2203001XXXX
M.Sc. IT Semester - IV | Academic Year: 2025-2026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800600"/>
            <a:ext cx="4846320" cy="1463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489204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3B82F6"/>
                </a:solidFill>
              </a:rPr>
              <a:t>UNDER THE GUIDANCE OF:</a:t>
            </a:r>
          </a:p>
          <a:p>
            <a:r>
              <a:rPr b="1" sz="1300">
                <a:solidFill>
                  <a:srgbClr val="FFFFFF"/>
                </a:solidFill>
              </a:rPr>
              <a:t>Internal Faculty Guide</a:t>
            </a:r>
          </a:p>
          <a:p>
            <a:r>
              <a:rPr sz="1000">
                <a:solidFill>
                  <a:srgbClr val="94A3B8"/>
                </a:solidFill>
              </a:rPr>
              <a:t>Assistant Professor
Department of MScIT, Parul University, Vadodara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67712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Project Motivation &amp; Core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Bridging the divide between raw research ideation and submission-ready academic papers.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34134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3047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2563EB"/>
                </a:solidFill>
              </a:rPr>
              <a:t>70%</a:t>
            </a:r>
          </a:p>
          <a:p>
            <a:r>
              <a:rPr b="1" sz="1100">
                <a:solidFill>
                  <a:srgbClr val="0F172A"/>
                </a:solidFill>
              </a:rPr>
              <a:t>Authoring Acceleration</a:t>
            </a:r>
          </a:p>
          <a:p>
            <a:r>
              <a:rPr sz="950">
                <a:solidFill>
                  <a:srgbClr val="64748B"/>
                </a:solidFill>
              </a:rPr>
              <a:t>Reduces total literature discovery and drafting cycle time from weeks to hours.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91640"/>
            <a:ext cx="34134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047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2563EB"/>
                </a:solidFill>
              </a:rPr>
              <a:t>100%</a:t>
            </a:r>
          </a:p>
          <a:p>
            <a:r>
              <a:rPr b="1" sz="1100">
                <a:solidFill>
                  <a:srgbClr val="0F172A"/>
                </a:solidFill>
              </a:rPr>
              <a:t>Citation Synchronization</a:t>
            </a:r>
          </a:p>
          <a:p>
            <a:r>
              <a:rPr sz="950">
                <a:solidFill>
                  <a:srgbClr val="64748B"/>
                </a:solidFill>
              </a:rPr>
              <a:t>Guarantees zero citation drift by linking manuscript cite{} tags with audited BibTeX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3455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047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943634"/>
                </a:solidFill>
              </a:rPr>
              <a:t>0 Cost</a:t>
            </a:r>
          </a:p>
          <a:p>
            <a:r>
              <a:rPr b="1" sz="1100">
                <a:solidFill>
                  <a:srgbClr val="0F172A"/>
                </a:solidFill>
              </a:rPr>
              <a:t>Offline Deterministic Mode</a:t>
            </a:r>
          </a:p>
          <a:p>
            <a:r>
              <a:rPr sz="950">
                <a:solidFill>
                  <a:srgbClr val="64748B"/>
                </a:solidFill>
              </a:rPr>
              <a:t>Enables complete manuscript synthesis locally without mandatory cloud API tokens or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The Scientific Publishing Dilemma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Literature Deluge: </a:t>
            </a:r>
            <a:r>
              <a:rPr b="0">
                <a:solidFill>
                  <a:srgbClr val="334155"/>
                </a:solidFill>
              </a:rPr>
              <a:t>Over 5 million papers published yearly doubles every few years, overwhelming researchers.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Extreme Fragmentation: </a:t>
            </a:r>
            <a:r>
              <a:rPr b="0">
                <a:solidFill>
                  <a:srgbClr val="334155"/>
                </a:solidFill>
              </a:rPr>
              <a:t>Scholars constantly switch across Google Scholar, Zotero, Word, Matplotlib, and Overleaf.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Format Non-Compliance: </a:t>
            </a:r>
            <a:r>
              <a:rPr b="0">
                <a:solidFill>
                  <a:srgbClr val="334155"/>
                </a:solidFill>
              </a:rPr>
              <a:t>Conference rejections frequently occur due to broken bibliography keys and template errors.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Cognitive Exhaustion: </a:t>
            </a:r>
            <a:r>
              <a:rPr b="0">
                <a:solidFill>
                  <a:srgbClr val="334155"/>
                </a:solidFill>
              </a:rPr>
              <a:t>Authors spend over 60% of their effort fighting formatting instead of intellectual research.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315468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0975" y="329184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The AI Research Paper Assistant Solution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Unified Academic Cockpit: </a:t>
            </a:r>
            <a:r>
              <a:rPr b="0">
                <a:solidFill>
                  <a:srgbClr val="334155"/>
                </a:solidFill>
              </a:rPr>
              <a:t>Consolidates search, hypothesis formulation, outline planning, drafting, review, and LaTeX bundling.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Live Scholarly Graph Integration: </a:t>
            </a:r>
            <a:r>
              <a:rPr b="0">
                <a:solidFill>
                  <a:srgbClr val="334155"/>
                </a:solidFill>
              </a:rPr>
              <a:t>Direct REST querying of Semantic Scholar &amp; arXiv for authentic bibliographic discovery.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Simulated 3-Reviewer Committee: </a:t>
            </a:r>
            <a:r>
              <a:rPr b="0">
                <a:solidFill>
                  <a:srgbClr val="334155"/>
                </a:solidFill>
              </a:rPr>
              <a:t>Pre-submission double-blind peer review scoring across 5 rigorous conference dimensions.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1-Click Camera-Ready Export: </a:t>
            </a:r>
            <a:r>
              <a:rPr b="0">
                <a:solidFill>
                  <a:srgbClr val="334155"/>
                </a:solidFill>
              </a:rPr>
              <a:t>Builds self-contained Overleaf ZIP archives with audited main.tex, references.bib, and 300 DPI plots.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4688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Problem Statement: 5 Critical Academic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Systemic inefficiencies that hinder post-graduate researchers and faculty supervisors.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37944"/>
            <a:ext cx="594360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80136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F172A"/>
                </a:solidFill>
              </a:rPr>
              <a:t>Information Overload &amp; Literature Lag — </a:t>
            </a:r>
            <a:r>
              <a:rPr sz="1000">
                <a:solidFill>
                  <a:srgbClr val="334155"/>
                </a:solidFill>
              </a:rPr>
              <a:t>Surfacing relevant prior art among millions of pre-prints without falling victim to keyword mismatch or missing seminal baselines.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9464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715768"/>
            <a:ext cx="594360" cy="475488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67919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F172A"/>
                </a:solidFill>
              </a:rPr>
              <a:t>Synthesis &amp; Literature Matrix Overhead — </a:t>
            </a:r>
            <a:r>
              <a:rPr sz="1000">
                <a:solidFill>
                  <a:srgbClr val="334155"/>
                </a:solidFill>
              </a:rPr>
              <a:t>Manual reading of dozens of abstracts requires weeks of effort to construct multi-dimensional comparative tables and identify authentic scientific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47288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593592"/>
            <a:ext cx="594360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57016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F172A"/>
                </a:solidFill>
              </a:rPr>
              <a:t>Drafting Inefficiency &amp; Academic Rigor — </a:t>
            </a:r>
            <a:r>
              <a:rPr sz="1000">
                <a:solidFill>
                  <a:srgbClr val="334155"/>
                </a:solidFill>
              </a:rPr>
              <a:t>Balancing mathematical notation precision, domain-specific terminology, and conference-compliant structural prose causes severe author fatigue.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25112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471416"/>
            <a:ext cx="594360" cy="475488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34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F172A"/>
                </a:solidFill>
              </a:rPr>
              <a:t>Citation Inconsistency &amp; Broken References — </a:t>
            </a:r>
            <a:r>
              <a:rPr sz="1000">
                <a:solidFill>
                  <a:srgbClr val="334155"/>
                </a:solidFill>
              </a:rPr>
              <a:t>Manual tracking results in broken cite{} tags, mismatched BibTeX entries, and frustrating LaTeX compiler crashes right before submission deadlines.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02936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349240"/>
            <a:ext cx="594360" cy="47548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12664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0F172A"/>
                </a:solidFill>
              </a:rPr>
              <a:t>Absence of Pre-Submission Peer Critique — </a:t>
            </a:r>
            <a:r>
              <a:rPr sz="1000">
                <a:solidFill>
                  <a:srgbClr val="334155"/>
                </a:solidFill>
              </a:rPr>
              <a:t>Manuscripts undergo zero formal critique prior to camera-ready submission, leading to avoidable desk rejections from top-tier venues (IEEE/ACM/NeurIPS).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65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PROJECT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Project Objectives &amp; Scope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Clear functional goals and operational boundaries governing software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2563EB"/>
                </a:solidFill>
              </a:rPr>
              <a:t>Primary Engineering Objectives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Literature Querying Automation: </a:t>
            </a:r>
            <a:r>
              <a:rPr b="0">
                <a:solidFill>
                  <a:srgbClr val="334155"/>
                </a:solidFill>
              </a:rPr>
              <a:t>Develop RESTful wrappers for Semantic Scholar and arXiv to fetch metadata, abstracts, and BibTeX strings instantly.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Intelligent Outline Architect: </a:t>
            </a:r>
            <a:r>
              <a:rPr b="0">
                <a:solidFill>
                  <a:srgbClr val="334155"/>
                </a:solidFill>
              </a:rPr>
              <a:t>Support venue-specific section hierarchies (NeurIPS, IEEE Transactions, ACM SIGKDD, Springer LNCS) with custom word budgets.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Hybrid Cloud/Offline Drafting: </a:t>
            </a:r>
            <a:r>
              <a:rPr b="0">
                <a:solidFill>
                  <a:srgbClr val="334155"/>
                </a:solidFill>
              </a:rPr>
              <a:t>Implement dual runtime engine: Google Gemini / OpenAI for rich drafting, and a deterministic offline engine for zero-cost execution.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Simulated Double-Blind Review: </a:t>
            </a:r>
            <a:r>
              <a:rPr b="0">
                <a:solidFill>
                  <a:srgbClr val="334155"/>
                </a:solidFill>
              </a:rPr>
              <a:t>Deploy multi-persona reviewer heuristics scoring across 5 core academic dimensions (Originality, Soundness, Rigor, Clarity, Citations).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Automated LaTeX &amp; Overleaf Pipeline: </a:t>
            </a:r>
            <a:r>
              <a:rPr b="0">
                <a:solidFill>
                  <a:srgbClr val="334155"/>
                </a:solidFill>
              </a:rPr>
              <a:t>Generate pristine main.tex, references.bib, and compile 300 DPI Matplotlib figures into ready-to-upload ZIP bundles.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943634"/>
                </a:solidFill>
              </a:rPr>
              <a:t>Scope &amp; Operational Boundaries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Target Academic Audience: </a:t>
            </a:r>
            <a:r>
              <a:rPr b="0">
                <a:solidFill>
                  <a:srgbClr val="334155"/>
                </a:solidFill>
              </a:rPr>
              <a:t>Specifically engineered for M.Sc. IT, MCA, IMCA students, Ph.D. scholars, and university faculty supervisors.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Domain Focus: </a:t>
            </a:r>
            <a:r>
              <a:rPr b="0">
                <a:solidFill>
                  <a:srgbClr val="334155"/>
                </a:solidFill>
              </a:rPr>
              <a:t>Optimized for Computer Science, Information Technology, AI, Data Science, and Software Engineering manuscripts.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Cross-Platform Web Architecture: </a:t>
            </a:r>
            <a:r>
              <a:rPr b="0">
                <a:solidFill>
                  <a:srgbClr val="334155"/>
                </a:solidFill>
              </a:rPr>
              <a:t>Browser-based application accessible across Windows, Linux, and macOS without client-side native compilation hurdles.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Out-of-Scope (Data Fabrication): </a:t>
            </a:r>
            <a:r>
              <a:rPr b="0">
                <a:solidFill>
                  <a:srgbClr val="334155"/>
                </a:solidFill>
              </a:rPr>
              <a:t>The platform strictly does NOT synthesize artificial lab results; all empirical benchmark numbers are provided or configured by the author.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Editorial Autonomy: </a:t>
            </a:r>
            <a:r>
              <a:rPr b="0">
                <a:solidFill>
                  <a:srgbClr val="334155"/>
                </a:solidFill>
              </a:rPr>
              <a:t>Functions as an intelligent scaffolding assistant; intellectual ownership and final editorial control remain entirely with the researcher.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4688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Existing Workflow vs. Proposed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Systematic contrast highlighting operational leaps across every authoring dimension.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91640"/>
          <a:ext cx="107277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58030"/>
                <a:gridCol w="435803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Authoring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Conventional Disjointed Workflow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AI Research Paper Assistant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Literature Discovery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Manual browsing of Google Scholar/arXiv; scattered notes and spreadsheet tracking.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Direct REST querying of Semantic Scholar; instant citation counts, abstracts, and BibTeX keys.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Related Work Synthesis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Weeks spent manually reading papers to hand-craft comparative text and tables.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Automated comparative matrix generation contrasting approaches, benchmarks, and limitations.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Drafting &amp; Formatting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Manual typing in Word/Google Docs with severe cognitive fatigue on mathematical equations.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Context-enriched section drafting with LaTeX equation environments and pseudocode staging.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Citation Tracking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High risk of citation drift, missing BibTeX keys, and broken cite{} tags in final compilation.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100% automated Citation Health Checker verifying every cite{} key against references.bib.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Quality &amp; Peer Review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Zero formal evaluation prior to conference submission, leading to avoidable rejections.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Multi-persona simulated double-blind peer review scoring across 5 conference rubrics.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LaTeX Packaging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991B1B"/>
                          </a:solidFill>
                        </a:rPr>
                        <a:t>Manual file copying, figure sizing, and painful compilation debugging on client machines.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66534"/>
                          </a:solidFill>
                        </a:rPr>
                        <a:t>1-Click automated generation of self-contained Overleaf ZIP bundles and local PDF compilation.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68296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PROJECT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Multi-Dimensional Feasibility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Thorough assessment validating the practical, commercial, and technical viability of the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52422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563EB"/>
                </a:solidFill>
              </a:rPr>
              <a:t>Technical Feasibility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Open-Source Foundation: </a:t>
            </a:r>
            <a:r>
              <a:rPr b="0">
                <a:solidFill>
                  <a:srgbClr val="334155"/>
                </a:solidFill>
              </a:rPr>
              <a:t>Built on robust, modern technologies: Python 3.11+, Streamlit reactive UI, and Tectonic TeX.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Documented REST APIs: </a:t>
            </a:r>
            <a:r>
              <a:rPr b="0">
                <a:solidFill>
                  <a:srgbClr val="334155"/>
                </a:solidFill>
              </a:rPr>
              <a:t>Semantic Scholar Graph API provides high-availability academic endpoints with stable schemas.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Dual Execution Pipeline: </a:t>
            </a:r>
            <a:r>
              <a:rPr b="0">
                <a:solidFill>
                  <a:srgbClr val="334155"/>
                </a:solidFill>
              </a:rPr>
              <a:t>Deterministic offline engine ensures 100% functionality even during network or quota outages.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242255" cy="54864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943634"/>
                </a:solidFill>
              </a:rPr>
              <a:t>Economic Feasibility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Zero Licensing Costs: </a:t>
            </a:r>
            <a:r>
              <a:rPr b="0">
                <a:solidFill>
                  <a:srgbClr val="334155"/>
                </a:solidFill>
              </a:rPr>
              <a:t>Engineered entirely using open-source libraries, eliminating expensive proprietary software fees.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Zero-Cost Offline Mode: </a:t>
            </a:r>
            <a:r>
              <a:rPr b="0">
                <a:solidFill>
                  <a:srgbClr val="334155"/>
                </a:solidFill>
              </a:rPr>
              <a:t>Students can run the full authoring pipeline locally without purchasing commercial API credits.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Minimal Cloud Overhead: </a:t>
            </a:r>
            <a:r>
              <a:rPr b="0">
                <a:solidFill>
                  <a:srgbClr val="334155"/>
                </a:solidFill>
              </a:rPr>
              <a:t>Optional cloud LLM drafting incurs only pennies per paper, well within lab allocations.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524225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Operational Feasibility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Intuitive Web Cockpit: </a:t>
            </a:r>
            <a:r>
              <a:rPr b="0">
                <a:solidFill>
                  <a:srgbClr val="334155"/>
                </a:solidFill>
              </a:rPr>
              <a:t>Self-explanatory 8-tab visual interface requiring zero specialized command-line training.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Rapid User Adoption: </a:t>
            </a:r>
            <a:r>
              <a:rPr b="0">
                <a:solidFill>
                  <a:srgbClr val="334155"/>
                </a:solidFill>
              </a:rPr>
              <a:t>Undergraduate and master's students can generate verified LaTeX bundles in their first session.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Seamless State Management: </a:t>
            </a:r>
            <a:r>
              <a:rPr b="0">
                <a:solidFill>
                  <a:srgbClr val="334155"/>
                </a:solidFill>
              </a:rPr>
              <a:t>1-click JSON import/export lets authors pause, save, and resume projects at any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2422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69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563EB"/>
                </a:solidFill>
              </a:rPr>
              <a:t>Legal &amp; Ethical Feasibility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Fair Use Compliance: </a:t>
            </a:r>
            <a:r>
              <a:rPr b="0">
                <a:solidFill>
                  <a:srgbClr val="334155"/>
                </a:solidFill>
              </a:rPr>
              <a:t>Scholarly abstracts and BibTeX data retrieved strictly respect open academic access standards.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Zero Attribution Drift: </a:t>
            </a:r>
            <a:r>
              <a:rPr b="0">
                <a:solidFill>
                  <a:srgbClr val="334155"/>
                </a:solidFill>
              </a:rPr>
              <a:t>Every generated citation links back to genuine, published academic papers and authors.</a:t>
            </a:r>
          </a:p>
          <a:p>
            <a:pPr>
              <a:spcAft>
                <a:spcPts val="300"/>
              </a:spcAft>
              <a:defRPr sz="9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Academic Integrity: </a:t>
            </a:r>
            <a:r>
              <a:rPr b="0">
                <a:solidFill>
                  <a:srgbClr val="334155"/>
                </a:solidFill>
              </a:rPr>
              <a:t>Functions as a cognitive co-pilot and typesetting assistant; author maintains intellectual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68296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The 8-Module Academic Authoring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Decoupled, cohesive software architecture managing the complete paper development lifecycle.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828800"/>
            <a:ext cx="6400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Project Portal</a:t>
            </a:r>
          </a:p>
          <a:p>
            <a:r>
              <a:rPr b="1" sz="850">
                <a:solidFill>
                  <a:srgbClr val="2563EB"/>
                </a:solidFill>
              </a:rPr>
              <a:t>Admin &amp; Venue Config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Configures manuscript titles, target templates (IEEE/NeurIPS), and toggles Cloud vs. Offline engines.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916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93592" y="1828800"/>
            <a:ext cx="6400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19456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Literature Hub</a:t>
            </a:r>
          </a:p>
          <a:p>
            <a:r>
              <a:rPr b="1" sz="850">
                <a:solidFill>
                  <a:srgbClr val="2563EB"/>
                </a:solidFill>
              </a:rPr>
              <a:t>Graph API Ingestion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Queries Semantic Scholar &amp; arXiv REST endpoints, parsing titles, citation velocity, and BibTeX.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6916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828800"/>
            <a:ext cx="6400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9456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Insights Hub</a:t>
            </a:r>
          </a:p>
          <a:p>
            <a:r>
              <a:rPr b="1" sz="850">
                <a:solidFill>
                  <a:srgbClr val="2563EB"/>
                </a:solidFill>
              </a:rPr>
              <a:t>Hypothesis Generator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Analyzes collected abstracts to extract persistent scientific gaps and auto-derive testable hypotheses.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69164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43416" y="1828800"/>
            <a:ext cx="6400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9456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Outline Architect</a:t>
            </a:r>
          </a:p>
          <a:p>
            <a:r>
              <a:rPr b="1" sz="850">
                <a:solidFill>
                  <a:srgbClr val="2563EB"/>
                </a:solidFill>
              </a:rPr>
              <a:t>Structural Planner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Generates conference-compliant hierarchical outlines with custom word budgets across sections.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4069080"/>
            <a:ext cx="640080" cy="274320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Related Work</a:t>
            </a:r>
          </a:p>
          <a:p>
            <a:r>
              <a:rPr b="1" sz="850">
                <a:solidFill>
                  <a:srgbClr val="2563EB"/>
                </a:solidFill>
              </a:rPr>
              <a:t>Synthesis Engine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Constructs structured tabular comparison matrices contrasting approaches, datasets, and limitations.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93592" y="4069080"/>
            <a:ext cx="640080" cy="274320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4348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Drafting Studio</a:t>
            </a:r>
          </a:p>
          <a:p>
            <a:r>
              <a:rPr b="1" sz="850">
                <a:solidFill>
                  <a:srgbClr val="2563EB"/>
                </a:solidFill>
              </a:rPr>
              <a:t>AI Prose &amp; Equations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Dispatches structured prompts to LLMs/offline engine; formats LaTeX equations and algorithm boxes.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18504" y="4069080"/>
            <a:ext cx="640080" cy="274320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44348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Peer Review</a:t>
            </a:r>
          </a:p>
          <a:p>
            <a:r>
              <a:rPr b="1" sz="850">
                <a:solidFill>
                  <a:srgbClr val="2563EB"/>
                </a:solidFill>
              </a:rPr>
              <a:t>3-Reviewer Simulation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Simulates Senior Reviewer, Methodologist, and Domain Expert scoring manuscripts across 5 rubrics.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06256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43416" y="4069080"/>
            <a:ext cx="640080" cy="274320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M8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3416" y="4434840"/>
            <a:ext cx="2286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LaTeX Bundler</a:t>
            </a:r>
          </a:p>
          <a:p>
            <a:r>
              <a:rPr b="1" sz="850">
                <a:solidFill>
                  <a:srgbClr val="2563EB"/>
                </a:solidFill>
              </a:rPr>
              <a:t>Compiler &amp; Overleaf ZIP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64748B"/>
                </a:solidFill>
              </a:rPr>
              <a:t>Audits citation health, compiles 300 DPI figures, and packages complete Overleaf ZIP archives.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764792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Spiral SDLC: Risk-Driven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Systematic risk analysis governing the integration of generative AI with deterministic LaTeX engines.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728655" cy="7315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Why the Spiral Model? </a:t>
            </a:r>
            <a:r>
              <a:rPr sz="1000">
                <a:solidFill>
                  <a:srgbClr val="334155"/>
                </a:solidFill>
              </a:rPr>
              <a:t>Coupling non-deterministic generative language models with strict, deterministic document compilers (LaTeX/Tectonic) creates severe failure points (rate limits, hallucinated citations, compilation crashes). The Spiral SDLC resolves these risks iteratively across 4 focused spirals.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69748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Spiral Iteration 1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0F172A"/>
                </a:solidFill>
              </a:rPr>
              <a:t>Core Architecture &amp; Risk Mitigation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Identified Risk: </a:t>
            </a:r>
            <a:r>
              <a:rPr b="0">
                <a:solidFill>
                  <a:srgbClr val="334155"/>
                </a:solidFill>
              </a:rPr>
              <a:t>LLM API rate limits, network outages, and token costs for students.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Engineering Milestone: </a:t>
            </a:r>
            <a:r>
              <a:rPr b="0">
                <a:solidFill>
                  <a:srgbClr val="334155"/>
                </a:solidFill>
              </a:rPr>
              <a:t>Built underlying project state JSON manager and deterministic offline rule-based academic engine.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Verification Target: </a:t>
            </a:r>
            <a:r>
              <a:rPr b="0">
                <a:solidFill>
                  <a:srgbClr val="334155"/>
                </a:solidFill>
              </a:rPr>
              <a:t>Zero-token offline draft generation successfully demonstrated.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256032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2560320"/>
            <a:ext cx="2560320" cy="54864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69748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943634"/>
                </a:solidFill>
              </a:rPr>
              <a:t>Spiral Iteration 2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0F172A"/>
                </a:solidFill>
              </a:rPr>
              <a:t>Literature Discovery &amp; UI Prototype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Identified Risk: </a:t>
            </a:r>
            <a:r>
              <a:rPr b="0">
                <a:solidFill>
                  <a:srgbClr val="334155"/>
                </a:solidFill>
              </a:rPr>
              <a:t>External scholarly graph API instability and malformed BibTeX.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Engineering Milestone: </a:t>
            </a:r>
            <a:r>
              <a:rPr b="0">
                <a:solidFill>
                  <a:srgbClr val="334155"/>
                </a:solidFill>
              </a:rPr>
              <a:t>Implemented Semantic Scholar REST client with in-memory caching and fallback to curated academic records.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Verification Target: </a:t>
            </a:r>
            <a:r>
              <a:rPr b="0">
                <a:solidFill>
                  <a:srgbClr val="334155"/>
                </a:solidFill>
              </a:rPr>
              <a:t>10-paper query parsing and abstract extraction working cleanly.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56032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560320"/>
            <a:ext cx="256032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4" y="269748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Spiral Iteration 3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0F172A"/>
                </a:solidFill>
              </a:rPr>
              <a:t>Drafting Engine &amp; Peer Review Studio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Identified Risk: </a:t>
            </a:r>
            <a:r>
              <a:rPr b="0">
                <a:solidFill>
                  <a:srgbClr val="334155"/>
                </a:solidFill>
              </a:rPr>
              <a:t>Draft prose incoherence, missing baselines, and citation drift.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Engineering Milestone: </a:t>
            </a:r>
            <a:r>
              <a:rPr b="0">
                <a:solidFill>
                  <a:srgbClr val="334155"/>
                </a:solidFill>
              </a:rPr>
              <a:t>Engineered context-enriched prompt assembler, related work comparison matrix builder, and 5-dimension rubric evaluator.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Verification Target: </a:t>
            </a:r>
            <a:r>
              <a:rPr b="0">
                <a:solidFill>
                  <a:srgbClr val="334155"/>
                </a:solidFill>
              </a:rPr>
              <a:t>Simulated peer review scoring 8.5/10 with itemized critiques.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256032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256" y="256032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269748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Spiral Iteration 4</a:t>
            </a:r>
          </a:p>
          <a:p>
            <a:pPr>
              <a:spcAft>
                <a:spcPts val="600"/>
              </a:spcAft>
            </a:pPr>
            <a:r>
              <a:rPr b="1" sz="900">
                <a:solidFill>
                  <a:srgbClr val="0F172A"/>
                </a:solidFill>
              </a:rPr>
              <a:t>Plots, Packaging &amp; System Verification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Identified Risk: </a:t>
            </a:r>
            <a:r>
              <a:rPr b="0">
                <a:solidFill>
                  <a:srgbClr val="334155"/>
                </a:solidFill>
              </a:rPr>
              <a:t>LaTeX syntax compilation errors and unreferenced BibTeX keys.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Engineering Milestone: </a:t>
            </a:r>
            <a:r>
              <a:rPr b="0">
                <a:solidFill>
                  <a:srgbClr val="334155"/>
                </a:solidFill>
              </a:rPr>
              <a:t>Built native Python plotting studio (300 DPI), automated Citation Health Checker, and Overleaf ZIP packager.</a:t>
            </a:r>
          </a:p>
          <a:p>
            <a:pPr>
              <a:spcAft>
                <a:spcPts val="400"/>
              </a:spcAft>
              <a:defRPr sz="85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Verification Target: </a:t>
            </a:r>
            <a:r>
              <a:rPr b="0">
                <a:solidFill>
                  <a:srgbClr val="334155"/>
                </a:solidFill>
              </a:rPr>
              <a:t>16/16 verification test cases passed (100% success rate).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65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SYSTEM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System Use Case Diagram (UC-01 to UC-10)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Visualizing actor-system boundary interactions across primary and external service providers.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 / 20</a:t>
            </a:r>
          </a:p>
        </p:txBody>
      </p:sp>
      <p:pic>
        <p:nvPicPr>
          <p:cNvPr id="11" name="Picture 10" descr="system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51804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691640"/>
            <a:ext cx="48764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510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Use Case Breakdown &amp; Actors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Academic Researcher (Primary): </a:t>
            </a:r>
            <a:r>
              <a:rPr b="0">
                <a:solidFill>
                  <a:srgbClr val="334155"/>
                </a:solidFill>
              </a:rPr>
              <a:t>Central orchestrator initiating workspace setup, querying literature, outlining, editing drafts, and triggering bundling.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Semantic Scholar API (External): </a:t>
            </a:r>
            <a:r>
              <a:rPr b="0">
                <a:solidFill>
                  <a:srgbClr val="334155"/>
                </a:solidFill>
              </a:rPr>
              <a:t>Responds to literature search queries (UC-02) and supplies BibTeX citations (UC-03).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AI Cloud Services (Gemini/OpenAI): </a:t>
            </a:r>
            <a:r>
              <a:rPr b="0">
                <a:solidFill>
                  <a:srgbClr val="334155"/>
                </a:solidFill>
              </a:rPr>
              <a:t>Executes context-enriched section drafting (UC-06), hypothesis derivation (UC-04), and simulated peer review (UC-08).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LaTeX Compiler (System Service): </a:t>
            </a:r>
            <a:r>
              <a:rPr b="0">
                <a:solidFill>
                  <a:srgbClr val="334155"/>
                </a:solidFill>
              </a:rPr>
              <a:t>Performs citation audit checks, runs Tectonic/pdflatex, and packages Overleaf ZIP bundles (UC-10).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Faculty Supervisor Interaction: </a:t>
            </a:r>
            <a:r>
              <a:rPr b="0">
                <a:solidFill>
                  <a:srgbClr val="334155"/>
                </a:solidFill>
              </a:rPr>
              <a:t>Leverages automated rubric scores and peer reviews for fast pre-submission manuscript evaluations.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67712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DATA FLOW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DFD Level 0: Context Level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High-level information exchange between the system bubble and external entities.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 / 20</a:t>
            </a:r>
          </a:p>
        </p:txBody>
      </p:sp>
      <p:pic>
        <p:nvPicPr>
          <p:cNvPr id="11" name="Picture 10" descr="dfd_level_0_smart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3880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691640"/>
            <a:ext cx="48764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510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Context Flow Architecture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System Process 0.0: </a:t>
            </a:r>
            <a:r>
              <a:rPr b="0">
                <a:solidFill>
                  <a:srgbClr val="334155"/>
                </a:solidFill>
              </a:rPr>
              <a:t>Represents the unified AI Research Paper Assistant platform encapsulating all data transformations.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Researcher Data Inflow: </a:t>
            </a:r>
            <a:r>
              <a:rPr b="0">
                <a:solidFill>
                  <a:srgbClr val="334155"/>
                </a:solidFill>
              </a:rPr>
              <a:t>Author supplies search topics, stylistic parameters, venue templates, outline adjustments, and plot specifications.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Scholarly API Communication: </a:t>
            </a:r>
            <a:r>
              <a:rPr b="0">
                <a:solidFill>
                  <a:srgbClr val="334155"/>
                </a:solidFill>
              </a:rPr>
              <a:t>Sends REST GET requests containing search keywords; receives JSON arrays containing paper abstracts, citation metrics, and BibTeX entries.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Generative LLM Inflow/Outflow: </a:t>
            </a:r>
            <a:r>
              <a:rPr b="0">
                <a:solidFill>
                  <a:srgbClr val="334155"/>
                </a:solidFill>
              </a:rPr>
              <a:t>Dispatches rich academic prompt dossiers; streams back academic prose drafts, equation blocks, and peer reviews.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Final Output Deliverables: </a:t>
            </a:r>
            <a:r>
              <a:rPr b="0">
                <a:solidFill>
                  <a:srgbClr val="334155"/>
                </a:solidFill>
              </a:rPr>
              <a:t>Assembled camera-ready PDF document, citation audit report, and self-contained Overleaf ZIP packages.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67712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DATA FLOW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DFD Level 1: Major System Processes &amp; Data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Decomposition into 6 core functional processes and 6 persistent data repositories.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 / 20</a:t>
            </a:r>
          </a:p>
        </p:txBody>
      </p:sp>
      <p:pic>
        <p:nvPicPr>
          <p:cNvPr id="11" name="Picture 10" descr="dfd_level_1_smart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120640" cy="732364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035040" y="1691640"/>
            <a:ext cx="54251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563EB"/>
                </a:solidFill>
              </a:rPr>
              <a:t>6 Core Processes &amp; 6 Persistent Data Stores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1.0 (Literature Discovery): </a:t>
            </a:r>
            <a:r>
              <a:rPr b="0">
                <a:solidFill>
                  <a:srgbClr val="334155"/>
                </a:solidFill>
              </a:rPr>
              <a:t>Executes scholarly searches and records verified citations into Data Store D1 (Literature Store).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2.0 (Create Hypothesis): </a:t>
            </a:r>
            <a:r>
              <a:rPr b="0">
                <a:solidFill>
                  <a:srgbClr val="334155"/>
                </a:solidFill>
              </a:rPr>
              <a:t>Analyzes collected prior art to derive novel research questions into Data Store D2 (Hypothesis Store).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3.0 (Architect Outline): </a:t>
            </a:r>
            <a:r>
              <a:rPr b="0">
                <a:solidFill>
                  <a:srgbClr val="334155"/>
                </a:solidFill>
              </a:rPr>
              <a:t>Transforms hypotheses into venue-compliant outlines stored in Data Store D3 (Outline Store).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4.0 (Draft Sections): </a:t>
            </a:r>
            <a:r>
              <a:rPr b="0">
                <a:solidFill>
                  <a:srgbClr val="334155"/>
                </a:solidFill>
              </a:rPr>
              <a:t>Synthesizes section drafts with LaTeX equations, persisting text into Data Store D4 (Drafts Store).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5.0 (Simulated Peer Review): </a:t>
            </a:r>
            <a:r>
              <a:rPr b="0">
                <a:solidFill>
                  <a:srgbClr val="334155"/>
                </a:solidFill>
              </a:rPr>
              <a:t>Evaluates drafts against conference rubrics, archiving critiques in Data Store D5 (Review Store).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Process 6.0 (Generate Package): </a:t>
            </a:r>
            <a:r>
              <a:rPr b="0">
                <a:solidFill>
                  <a:srgbClr val="334155"/>
                </a:solidFill>
              </a:rPr>
              <a:t>Renders 300 DPI plots, audits citations, and packages Overleaf ZIP into Data Store D6 (Package Store).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267712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DETAILED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DFD Level 2 &amp; Level 3: Drafting &amp; Peer Review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Granular modeling of internal text synthesis, equation formatting, and multi-persona critique.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12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4846320" cy="63389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1737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DFD Level 2: Drafting Engine (Process 4.0)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fd_lev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2057400"/>
            <a:ext cx="4846320" cy="65021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0975" y="1737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943634"/>
                </a:solidFill>
              </a:rPr>
              <a:t>DFD Level 3: Peer Review Pipeline (Process 5.0)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670048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OBJECT-ORIENTED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UML Class Diagram: Core Domain 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Static structural architecture defining system classes, attributes, methods, and associations.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13 / 20</a:t>
            </a:r>
          </a:p>
        </p:txBody>
      </p:sp>
      <p:pic>
        <p:nvPicPr>
          <p:cNvPr id="11" name="Picture 10" descr="class_diagram_smart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41594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691640"/>
            <a:ext cx="48764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510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Key Architectural Classes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PaperProject: </a:t>
            </a:r>
            <a:r>
              <a:rPr b="0">
                <a:solidFill>
                  <a:srgbClr val="334155"/>
                </a:solidFill>
              </a:rPr>
              <a:t>Central entity encapsulating metadata, selected target venue, active LLM mode, and project file references.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LiteratureSearcher: </a:t>
            </a:r>
            <a:r>
              <a:rPr b="0">
                <a:solidFill>
                  <a:srgbClr val="334155"/>
                </a:solidFill>
              </a:rPr>
              <a:t>REST client executing HTTP GET queries against Semantic Scholar, parsing abstracts, and serializing BibTeX strings.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LLMEngine (Strategy Pattern): </a:t>
            </a:r>
            <a:r>
              <a:rPr b="0">
                <a:solidFill>
                  <a:srgbClr val="334155"/>
                </a:solidFill>
              </a:rPr>
              <a:t>Abstract base class with CloudLLMEngine (Gemini/OpenAI) and OfflineAcademicEngine concrete implementations.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OutlineArchitect: </a:t>
            </a:r>
            <a:r>
              <a:rPr b="0">
                <a:solidFill>
                  <a:srgbClr val="334155"/>
                </a:solidFill>
              </a:rPr>
              <a:t>Manages section hierarchies, word count targets, and conference section ordering.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CitationAuditor: </a:t>
            </a:r>
            <a:r>
              <a:rPr b="0">
                <a:solidFill>
                  <a:srgbClr val="334155"/>
                </a:solidFill>
              </a:rPr>
              <a:t>Static audit engine verifying bidirectional citation consistency and flagging missing BibTeX keys.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LaTeXCompiler &amp; Packager: </a:t>
            </a:r>
            <a:r>
              <a:rPr b="0">
                <a:solidFill>
                  <a:srgbClr val="334155"/>
                </a:solidFill>
              </a:rPr>
              <a:t>Assembles main.tex, figures, and builds autonomous Overleaf-ready ZIP archives.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68296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BEHAVIORAL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UML Behavioral Models: Sequence &amp;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Chronological message dispatch, operational decision gates, and branching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14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quence_diagram_smart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4846320" cy="36837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1737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UML Sequence Diagram: End-to-End Execution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ctivity_diagram_smart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75" y="2057400"/>
            <a:ext cx="4846320" cy="70550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0975" y="173736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943634"/>
                </a:solidFill>
              </a:rPr>
              <a:t>UML Activity Diagram: Decision Paths &amp; Control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65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Entity-Relationship Model (ERD) &amp; Data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Relational design maintaining literature, outlines, drafts, reviews, and visual assets.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15 / 20</a:t>
            </a:r>
          </a:p>
        </p:txBody>
      </p:sp>
      <p:pic>
        <p:nvPicPr>
          <p:cNvPr id="11" name="Picture 10" descr="er_diagram_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669280" cy="389253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0" y="1691640"/>
            <a:ext cx="48764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28800"/>
            <a:ext cx="4510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Database Tables &amp; Cardinality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tbl_paper_project (Central Entity): </a:t>
            </a:r>
            <a:r>
              <a:rPr b="0">
                <a:solidFill>
                  <a:srgbClr val="334155"/>
                </a:solidFill>
              </a:rPr>
              <a:t>Stores project_id, title, author_names, target_venue, and llm_engine_mode. 1:N parent across all tables.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tbl_literature_sources (1:N): </a:t>
            </a:r>
            <a:r>
              <a:rPr b="0">
                <a:solidFill>
                  <a:srgbClr val="334155"/>
                </a:solidFill>
              </a:rPr>
              <a:t>Contains source_id, paper_title, authors, venue, year, citation_count, and formatted bibtex_raw.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tbl_paper_outline (1:N): </a:t>
            </a:r>
            <a:r>
              <a:rPr b="0">
                <a:solidFill>
                  <a:srgbClr val="334155"/>
                </a:solidFill>
              </a:rPr>
              <a:t>Tracks section_id, section_order, section_title, target_words, and key_points.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tbl_section_drafts (1:N): </a:t>
            </a:r>
            <a:r>
              <a:rPr b="0">
                <a:solidFill>
                  <a:srgbClr val="334155"/>
                </a:solidFill>
              </a:rPr>
              <a:t>Stores drafted markdown/LaTeX text, computed word_count, and author approval flag.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tbl_peer_review_logs (1:N): </a:t>
            </a:r>
            <a:r>
              <a:rPr b="0">
                <a:solidFill>
                  <a:srgbClr val="334155"/>
                </a:solidFill>
              </a:rPr>
              <a:t>Logs overall_score (1.0-10.0), recommendation verdict (Accept/Revise), and multi-persona critique.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tbl_figure_assets (1:N): </a:t>
            </a:r>
            <a:r>
              <a:rPr b="0">
                <a:solidFill>
                  <a:srgbClr val="334155"/>
                </a:solidFill>
              </a:rPr>
              <a:t>Maintains captions, 300 DPI raster paths, vector PDF paths, and LaTeX figure code blocks.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865376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User Interface Walkthrough: The 8-Step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Streamlit reactive web frontend with native session state and dual cloud/offline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16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1_paper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1368"/>
            <a:ext cx="3017520" cy="19829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23360" y="1828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Tab 1: Project Portal &amp; LLM Mode Toggle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5_section_wri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01368"/>
            <a:ext cx="3017520" cy="198294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0" y="1828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Tab 5: Section Writing Studio &amp; LaTeX Math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shot_7_plots_visu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41648"/>
            <a:ext cx="3017520" cy="198294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023360" y="4069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Tab 7: Publication Plots Studio (300 DPI)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reenshot_9_final_paper_ex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41648"/>
            <a:ext cx="3017520" cy="198294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09760" y="40690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Tab 9: Final Paper Audit &amp; Overleaf Packager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9659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TECHNICAL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Core Business Logic &amp; Algorithmic Implementations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Robust algorithms guaranteeing citation consistency, multi-model adaptability, and clean LaTeX.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17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52422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2563EB"/>
                </a:solidFill>
              </a:rPr>
              <a:t>1. Citation Health Auditor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Regex In-Text Tokenizer: </a:t>
            </a:r>
            <a:r>
              <a:rPr b="0">
                <a:solidFill>
                  <a:srgbClr val="334155"/>
                </a:solidFill>
              </a:rPr>
              <a:t>Audits all \cite{...} tags across manuscript sections: cited_keys = set(re.findall(r'\\cite\{([^}]+)\}', text)).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BibTeX Key Comparator: </a:t>
            </a:r>
            <a:r>
              <a:rPr b="0">
                <a:solidFill>
                  <a:srgbClr val="334155"/>
                </a:solidFill>
              </a:rPr>
              <a:t>Extracts declared keys via bib_keys = set(re.findall(r'@\w+\{([^,]+),', bibtex)).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Zero-Drift Validation: </a:t>
            </a:r>
            <a:r>
              <a:rPr b="0">
                <a:solidFill>
                  <a:srgbClr val="334155"/>
                </a:solidFill>
              </a:rPr>
              <a:t>Computes missing_keys = cited_keys - bib_keys; warns author before compilation to eliminate TeX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242255" cy="54864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943634"/>
                </a:solidFill>
              </a:rPr>
              <a:t>2. Dual-Engine LLM Abstraction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Abstract Strategy Pattern: </a:t>
            </a:r>
            <a:r>
              <a:rPr b="0">
                <a:solidFill>
                  <a:srgbClr val="334155"/>
                </a:solidFill>
              </a:rPr>
              <a:t>BaseLLMEngine defines abstract generate_draft() implemented by CloudLLMEngine and OfflineAcademicEngine.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Google Gemini 1.5 Pro: </a:t>
            </a:r>
            <a:r>
              <a:rPr b="0">
                <a:solidFill>
                  <a:srgbClr val="334155"/>
                </a:solidFill>
              </a:rPr>
              <a:t>Live cloud mode leveraging multi-turn context prompting for advanced reasoning and proof formulation.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Deterministic Offline Fallback: </a:t>
            </a:r>
            <a:r>
              <a:rPr b="0">
                <a:solidFill>
                  <a:srgbClr val="334155"/>
                </a:solidFill>
              </a:rPr>
              <a:t>Rule-based synthesizer dynamically constructs structured sections and mathematical theorems without API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524225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0F172A"/>
                </a:solidFill>
              </a:rPr>
              <a:t>3. Multi-Persona Peer Review Rubric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Senior Reviewer Persona: </a:t>
            </a:r>
            <a:r>
              <a:rPr b="0">
                <a:solidFill>
                  <a:srgbClr val="334155"/>
                </a:solidFill>
              </a:rPr>
              <a:t>Focuses on theoretical soundness, mathematical proofs, and conceptual novelty.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Methodologist Persona: </a:t>
            </a:r>
            <a:r>
              <a:rPr b="0">
                <a:solidFill>
                  <a:srgbClr val="334155"/>
                </a:solidFill>
              </a:rPr>
              <a:t>Critiques empirical baselines, benchmark validity, and metric fairness.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Domain Expert Persona: </a:t>
            </a:r>
            <a:r>
              <a:rPr b="0">
                <a:solidFill>
                  <a:srgbClr val="334155"/>
                </a:solidFill>
              </a:rPr>
              <a:t>Evaluates literature coverage, citation integrity, and academic writing clarity.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24225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4876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200">
                <a:solidFill>
                  <a:srgbClr val="2563EB"/>
                </a:solidFill>
              </a:rPr>
              <a:t>4. Autonomous Overleaf ZIP Packager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In-Memory ZIP Assembly: </a:t>
            </a:r>
            <a:r>
              <a:rPr b="0">
                <a:solidFill>
                  <a:srgbClr val="334155"/>
                </a:solidFill>
              </a:rPr>
              <a:t>Packages main.tex, references.bib, and figures/ without intermediate disk pollution.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Multi-OS Compilation Scripts: </a:t>
            </a:r>
            <a:r>
              <a:rPr b="0">
                <a:solidFill>
                  <a:srgbClr val="334155"/>
                </a:solidFill>
              </a:rPr>
              <a:t>Includes Makefile (Linux/macOS latexmk) and compile.bat (Windows pdflatex + bibtex).</a:t>
            </a:r>
          </a:p>
          <a:p>
            <a:pPr>
              <a:spcAft>
                <a:spcPts val="300"/>
              </a:spcAft>
              <a:defRPr sz="9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Overleaf Direct Import: </a:t>
            </a:r>
            <a:r>
              <a:rPr b="0">
                <a:solidFill>
                  <a:srgbClr val="334155"/>
                </a:solidFill>
              </a:rPr>
              <a:t>Single ZIP upload immediately compiles without missing style files or broken bounding boxes.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167128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Testing Strategy &amp; 16-Suite Verification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Rigorous multi-tiered testing achieving 100% test pass rate across all functional boundaries.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18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4114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2563EB"/>
                </a:solidFill>
              </a:rPr>
              <a:t>5 Sequential Testing Tiers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Unit Testing: </a:t>
            </a:r>
            <a:r>
              <a:rPr b="0">
                <a:solidFill>
                  <a:srgbClr val="334155"/>
                </a:solidFill>
              </a:rPr>
              <a:t>Tested REST clients, BibTeX parsers, and plot generators in isolation with unittest (10/10 passed).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Integration Testing: </a:t>
            </a:r>
            <a:r>
              <a:rPr b="0">
                <a:solidFill>
                  <a:srgbClr val="334155"/>
                </a:solidFill>
              </a:rPr>
              <a:t>Verified data pipeline between literature search, outline generation, and drafting engine.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System Testing: </a:t>
            </a:r>
            <a:r>
              <a:rPr b="0">
                <a:solidFill>
                  <a:srgbClr val="334155"/>
                </a:solidFill>
              </a:rPr>
              <a:t>Validated full end-to-end authoring runs in both Live Cloud and Offline modes.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User Acceptance Testing: </a:t>
            </a:r>
            <a:r>
              <a:rPr b="0">
                <a:solidFill>
                  <a:srgbClr val="334155"/>
                </a:solidFill>
              </a:rPr>
              <a:t>Conducted with M.Sc. IT &amp; MCA students to evaluate UI responsiveness and feedback clarity.</a:t>
            </a:r>
          </a:p>
          <a:p>
            <a:pPr>
              <a:spcAft>
                <a:spcPts val="600"/>
              </a:spcAft>
              <a:defRPr sz="11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• Robustness &amp; Edge Testing: </a:t>
            </a:r>
            <a:r>
              <a:rPr b="0">
                <a:solidFill>
                  <a:srgbClr val="334155"/>
                </a:solidFill>
              </a:rPr>
              <a:t>Simulated network drops, missing API keys, invalid plot code, and malformed BibTeX.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0" y="1691640"/>
          <a:ext cx="64309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2773375"/>
                <a:gridCol w="9144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Observed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Workspace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Session JSON created; default outline 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Literature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10 papers retrieved with metadata &amp; BibTeX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Network Timeout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Graceful fallback to local cached mock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Outline Gen (IEEE)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8-section hierarchical outline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Offline Drafting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Structured prose with LaTeX equations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Simulated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Score: 8.5/10 with 3 reviewer critiques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Citation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Flagged unreferenced \cite{badKey} accurately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850" b="1"/>
                        <a:t>TC-15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/>
                        <a:t>Overleaf 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Complete ZIP generated with main.tex &amp; plots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166534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1865376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Calibri"/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Calibri"/>
              </a:rPr>
              <a:t>Future Enhancements &amp; Research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Calibri"/>
              </a:rPr>
              <a:t>Strategic extensions planned for enterprise academic deployments and next-generation authoring.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10728655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Calibri"/>
              </a:rPr>
              <a:t>Parul University | Department of MScIT | Minor Project Report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327648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>
                <a:solidFill>
                  <a:srgbClr val="334155"/>
                </a:solidFill>
                <a:latin typeface="Calibri"/>
              </a:rPr>
              <a:t>AI Research Paper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37215" y="6291072"/>
            <a:ext cx="822960" cy="256032"/>
          </a:xfrm>
          <a:prstGeom prst="round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19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73152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7830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7.1 Real-Time Collaborative Authoring  •  WebSocket-Driven Multi-User Sync</a:t>
            </a:r>
          </a:p>
          <a:p>
            <a:r>
              <a:rPr sz="950">
                <a:solidFill>
                  <a:srgbClr val="334155"/>
                </a:solidFill>
              </a:rPr>
              <a:t>Implementing operational transformation / CRDTs allowing student co-authors and faculty guides to simultaneously edit sections, leave inline review comments, and stage citations concurrently (similar to Google Docs &amp; Overleaf).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9464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69464"/>
            <a:ext cx="73152" cy="768096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943634"/>
                </a:solidFill>
              </a:rPr>
              <a:t>7.2 Multimodal Architectural Diagram Critique  •  Vision-Language Model Visual Auditing</a:t>
            </a:r>
          </a:p>
          <a:p>
            <a:r>
              <a:rPr sz="950">
                <a:solidFill>
                  <a:srgbClr val="334155"/>
                </a:solidFill>
              </a:rPr>
              <a:t>Integrating Gemini 1.5 Pro Vision to automatically critique uploaded architectural flowcharts, benchmark plots, and system schematics, verifying font legibility, color-blind safety, and publication DPI compliance.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47288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47288"/>
            <a:ext cx="73152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38728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7.3 Local Vector RAG for Offline PDF Repositories  •  Private Offline Literature Embeddings</a:t>
            </a:r>
          </a:p>
          <a:p>
            <a:r>
              <a:rPr sz="950">
                <a:solidFill>
                  <a:srgbClr val="334155"/>
                </a:solidFill>
              </a:rPr>
              <a:t>Embedding ChromaDB / FAISS locally to ingest students' private collections of downloaded academic PDFs, enabling passage-level semantic search and verbatim quotation extraction with precise page attribution.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25112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325112"/>
            <a:ext cx="73152" cy="7680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1655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563EB"/>
                </a:solidFill>
              </a:rPr>
              <a:t>7.4 Automated Pre-Print &amp; Conference Submission APIs  •  1-Click Camera-Ready Ingestion</a:t>
            </a:r>
          </a:p>
          <a:p>
            <a:r>
              <a:rPr sz="950">
                <a:solidFill>
                  <a:srgbClr val="334155"/>
                </a:solidFill>
              </a:rPr>
              <a:t>Developing authenticated REST connectors to arXiv, OpenReview, and IEEE conference submission portals, automatically transferring paper metadata, author affiliations, abstract text, and PDF assets.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02936"/>
            <a:ext cx="10728655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202936"/>
            <a:ext cx="73152" cy="768096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9437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943634"/>
                </a:solidFill>
              </a:rPr>
              <a:t>7.5 Fine-Tuned Domain-Specific Language Models  •  Lightweight Local Small Language Models (SLMs)</a:t>
            </a:r>
          </a:p>
          <a:p>
            <a:r>
              <a:rPr sz="950">
                <a:solidFill>
                  <a:srgbClr val="334155"/>
                </a:solidFill>
              </a:rPr>
              <a:t>Fine-tuning compact open-source models (e.g. Llama-3-8B / Gemma-2-9B) on peer-reviewed open-access computer science papers, enabling high-performance, cost-free drafting directly on standard consumer laptops.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CONCLUSION &amp; PROJECT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31089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3108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1F5F9"/>
                </a:solidFill>
              </a:rPr>
              <a:t>Academic Impact</a:t>
            </a:r>
          </a:p>
          <a:p>
            <a:r>
              <a:rPr sz="950">
                <a:solidFill>
                  <a:srgbClr val="94A3B8"/>
                </a:solidFill>
              </a:rPr>
              <a:t>Democratizes publication-grade research writing for graduate students, ensuring rigorous formatting, citation integrity, and formal scientific tone.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91640"/>
            <a:ext cx="31089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91640"/>
            <a:ext cx="3108960" cy="54864"/>
          </a:xfrm>
          <a:prstGeom prst="rect">
            <a:avLst/>
          </a:prstGeom>
          <a:solidFill>
            <a:srgbClr val="943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1F5F9"/>
                </a:solidFill>
              </a:rPr>
              <a:t>Engineering Rigor</a:t>
            </a:r>
          </a:p>
          <a:p>
            <a:r>
              <a:rPr sz="950">
                <a:solidFill>
                  <a:srgbClr val="94A3B8"/>
                </a:solidFill>
              </a:rPr>
              <a:t>Successfully unites generative language models with strict LaTeX compilation via a disciplined Spiral SDLC, validated by 16/16 passing test suites.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91640"/>
            <a:ext cx="310896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19" y="1691640"/>
            <a:ext cx="310896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F1F5F9"/>
                </a:solidFill>
              </a:rPr>
              <a:t>Operational Value</a:t>
            </a:r>
          </a:p>
          <a:p>
            <a:r>
              <a:rPr sz="950">
                <a:solidFill>
                  <a:srgbClr val="94A3B8"/>
                </a:solidFill>
              </a:rPr>
              <a:t>Eliminates tool fragmentation by providing an intuitive, 8-phase end-to-end authoring cockpit from raw idea to compiled Overleaf package.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069080"/>
            <a:ext cx="9997135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84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F59E0B"/>
                </a:solidFill>
              </a:rPr>
              <a:t>ACKNOWLEDGEMENTS &amp; INSTITUTIONAL GRATITUDE</a:t>
            </a:r>
          </a:p>
          <a:p>
            <a:pPr algn="ctr">
              <a:spcBef>
                <a:spcPts val="600"/>
              </a:spcBef>
            </a:pPr>
            <a:r>
              <a:rPr sz="1050">
                <a:solidFill>
                  <a:srgbClr val="CBD5E1"/>
                </a:solidFill>
              </a:rPr>
              <a:t>Sincere thanks to Dr. Devanshu Patel (President, Parul University), Dean, Head of Department, and our Internal Faculty Guide for their visionary guidance, academic resources, and constant encouragement.</a:t>
            </a:r>
          </a:p>
          <a:p>
            <a:pPr algn="ctr">
              <a:spcBef>
                <a:spcPts val="1200"/>
              </a:spcBef>
            </a:pPr>
            <a:r>
              <a:rPr b="1" sz="1800">
                <a:solidFill>
                  <a:srgbClr val="FFFFFF"/>
                </a:solidFill>
              </a:rPr>
              <a:t>THANK YOU  •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